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Naive hidden Markov models: delay versus accuracy</a:t>
            </a:r>
          </a:p>
          <a:p>
            <a:r>
              <a:t>G Harish reddy | PES1UG24AM366</a:t>
            </a:r>
          </a:p>
          <a:p>
            <a:r>
              <a:t>SHARANABASAVA H | PES1UG24AM399</a:t>
            </a:r>
          </a:p>
          <a:p>
            <a:r>
              <a:t>UE24CS352A Machine Learning</a:t>
            </a:r>
          </a:p>
          <a:p>
            <a:r>
              <a:t>Reference: supplied Ahres et al. CS229 paper; Newson and Krumm Seattle benchmark. Explain implementation adaptations honestly. Contribution assignments are not verified.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GPS noise can place a vehicle on the wrong road.</a:t>
            </a:r>
          </a:p>
          <a:p>
            <a:r>
              <a:t>Estimate the hidden directed road arc for each reading.</a:t>
            </a:r>
          </a:p>
          <a:p>
            <a:r>
              <a:t>Waiting N readings provides future evidence but delays output.</a:t>
            </a:r>
          </a:p>
          <a:p>
            <a:r>
              <a:t>Avoid shortest-path searches; study the measured trade-off.</a:t>
            </a:r>
          </a:p>
          <a:p>
            <a:r>
              <a:t>Reference: supplied Ahres et al. CS229 paper; Newson and Krumm Seattle benchmark. Explain implementation adaptations honestly. Contribution assignments are not verified.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7,531 readings; 158,167 road edges; 576 reference-route edges.</a:t>
            </a:r>
          </a:p>
          <a:p>
            <a:r>
              <a:t>Nominal 1 Hz with four gaps; coordinates projected to metres.</a:t>
            </a:r>
          </a:p>
          <a:p>
            <a:r>
              <a:t>60% train / 10% validation / 30% held-out test.</a:t>
            </a:r>
          </a:p>
          <a:p>
            <a:r>
              <a:t>Point labels derived from route alignment: evaluation proxies.</a:t>
            </a:r>
          </a:p>
          <a:p>
            <a:r>
              <a:t>Reference: supplied Ahres et al. CS229 paper; Newson and Krumm Seattle benchmark. Explain implementation adaptations honestly. Contribution assignments are not verified.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GPS + roads -&gt; nearby directed arc candidates</a:t>
            </a:r>
          </a:p>
          <a:p>
            <a:r>
              <a:t>Distance, heading, speed features -&gt; emissions</a:t>
            </a:r>
          </a:p>
          <a:p>
            <a:r>
              <a:t>History and displacement features -&gt; transitions</a:t>
            </a:r>
          </a:p>
          <a:p>
            <a:r>
              <a:t>Log-domain sliding-window Viterbi -&gt; irrevocable predictions</a:t>
            </a:r>
          </a:p>
          <a:p>
            <a:r>
              <a:t>Reference: supplied Ahres et al. CS229 paper; Newson and Krumm Seattle benchmark. Explain implementation adaptations honestly. Contribution assignments are not verified.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States: all directed arcs within 50 m; sigma = 10 m.</a:t>
            </a:r>
          </a:p>
          <a:p>
            <a:r>
              <a:t>Emission: Gaussian distance, heading dot product, speed constraint.</a:t>
            </a:r>
          </a:p>
          <a:p>
            <a:r>
              <a:t>Transition: backtrack prevention and midpoint discrepancy.</a:t>
            </a:r>
          </a:p>
          <a:p>
            <a:r>
              <a:t>Positive weighted potentials; no connectivity guarantee.</a:t>
            </a:r>
          </a:p>
          <a:p>
            <a:r>
              <a:t>Reference: supplied Ahres et al. CS229 paper; Newson and Krumm Seattle benchmark. Explain implementation adaptations honestly. Contribution assignments are not verified.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 reading t, solve over max(0, t-T+1) through t.</a:t>
            </a:r>
          </a:p>
          <a:p>
            <a:r>
              <a:t>Clamp overlapping committed states at their actual times.</a:t>
            </a:r>
          </a:p>
          <a:p>
            <a:r>
              <a:t>Commit prediction for t-N; never revise it later.</a:t>
            </a:r>
          </a:p>
          <a:p>
            <a:r>
              <a:t>Flush final N points at EOF; report online-only error separately.</a:t>
            </a:r>
          </a:p>
          <a:p>
            <a:r>
              <a:t>Reference: supplied Ahres et al. CS229 paper; Newson and Krumm Seattle benchmark. Explain implementation adaptations honestly. Contribution assignments are not verified.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Balanced L1 LinearSVC; candidates/pairs labelled from reference.</a:t>
            </a:r>
          </a:p>
          <a:p>
            <a:r>
              <a:t>10 expanding folds, 15-reading gap; C in {0.1, 1, 10}.</a:t>
            </a:r>
          </a:p>
          <a:p>
            <a:r>
              <a:t>Selected C: emission 10, transition 10.</a:t>
            </a:r>
          </a:p>
          <a:p>
            <a:r>
              <a:t>Positive coefficients normalized; intercept discarded.</a:t>
            </a:r>
          </a:p>
          <a:p>
            <a:r>
              <a:t>Reference: supplied Ahres et al. CS229 paper; Newson and Krumm Seattle benchmark. Explain implementation adaptations honestly. Contribution assignments are not verified.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Validation selected T=10, N=7.</a:t>
            </a:r>
          </a:p>
          <a:p>
            <a:r>
              <a:t>Test directed error: 9.60%.</a:t>
            </a:r>
          </a:p>
          <a:p>
            <a:r>
              <a:t>Test edge error: 4.60%.</a:t>
            </a:r>
          </a:p>
          <a:p>
            <a:r>
              <a:t>Minimum is not always at T/2; curves are not uniformly convex.</a:t>
            </a:r>
          </a:p>
          <a:p>
            <a:r>
              <a:t>Reference: supplied Ahres et al. CS229 paper; Newson and Krumm Seattle benchmark. Explain implementation adaptations honestly. Contribution assignments are not verified.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Nearest-road edge error: 8.01%.</a:t>
            </a:r>
          </a:p>
          <a:p>
            <a:r>
              <a:t>Full model edge error: 4.60%.</a:t>
            </a:r>
          </a:p>
          <a:p>
            <a:r>
              <a:t>Removing heading or distance sharply worsens error.</a:t>
            </a:r>
          </a:p>
          <a:p>
            <a:r>
              <a:t>Removing discrepancy improves directed error to 8.94%.</a:t>
            </a:r>
          </a:p>
          <a:p>
            <a:r>
              <a:t>Reference: supplied Ahres et al. CS229 paper; Newson and Krumm Seattle benchmark. Explain implementation adaptations honestly. Contribution assignments are not verified.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python run_demo.py --T 10 --N 7 --slice 5300 5600</a:t>
            </a:r>
          </a:p>
          <a:p>
            <a:r>
              <a:t>Open results/demo_map.html: completely offline replay.</a:t>
            </a:r>
          </a:p>
          <a:p>
            <a:r>
              <a:t>Compare N=0 and N=7 using the same slice.</a:t>
            </a:r>
          </a:p>
          <a:p>
            <a:r>
              <a:t>Static PNG is the backup; runtime excludes map rendering.</a:t>
            </a:r>
          </a:p>
          <a:p>
            <a:r>
              <a:t>Reference: supplied Ahres et al. CS229 paper; Newson and Krumm Seattle benchmark. Explain implementation adaptations honestly. Contribution assignments are not verified.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Buffering and heading help on this single benchmark.</a:t>
            </a:r>
          </a:p>
          <a:p>
            <a:r>
              <a:t>Derived labels and one trip limit generalization.</a:t>
            </a:r>
          </a:p>
          <a:p>
            <a:r>
              <a:t>Training/inference history differ; no network connectivity check.</a:t>
            </a:r>
          </a:p>
          <a:p>
            <a:r>
              <a:t>Next: independent labels, multiple trips, filtering, turn features.</a:t>
            </a:r>
          </a:p>
          <a:p>
            <a:r>
              <a:t>Reference: supplied Ahres et al. CS229 paper; Newson and Krumm Seattle benchmark. Explain implementation adaptations honestly. Contribution assignments are not verified.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src/: loader, candidates, features, Viterbi, training, evaluation.</a:t>
            </a:r>
          </a:p>
          <a:p>
            <a:r>
              <a:t>Tests verify causal commitments and future-evidence effects.</a:t>
            </a:r>
          </a:p>
          <a:p>
            <a:r>
              <a:t>Both members should review the full pipeline and run the demo.</a:t>
            </a:r>
          </a:p>
          <a:p>
            <a:r>
              <a:t>Record actual individual contributions; private GitHub publishing pending.</a:t>
            </a:r>
          </a:p>
          <a:p>
            <a:r>
              <a:t>Reference: supplied Ahres et al. CS229 paper; Newson and Krumm Seattle benchmark. Explain implementation adaptations honestly. Contribution assignments are not verified.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8FAFC"/>
                </a:solidFill>
              </a:defRPr>
            </a:pPr>
            <a:r>
              <a:t>Real-Time Dense Map Matching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60020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CBD5E1"/>
                </a:solidFill>
              </a:defRPr>
            </a:pPr>
            <a:r>
              <a:t>Naive hidden Markov models: delay versus accuracy</a:t>
            </a:r>
          </a:p>
          <a:p>
            <a:pPr>
              <a:spcAft>
                <a:spcPts val="2200"/>
              </a:spcAft>
              <a:defRPr sz="2400">
                <a:solidFill>
                  <a:srgbClr val="CBD5E1"/>
                </a:solidFill>
              </a:defRPr>
            </a:pPr>
            <a:r>
              <a:t>G Harish reddy | PES1UG24AM366</a:t>
            </a:r>
          </a:p>
          <a:p>
            <a:pPr>
              <a:spcAft>
                <a:spcPts val="2200"/>
              </a:spcAft>
              <a:defRPr sz="2400">
                <a:solidFill>
                  <a:srgbClr val="CBD5E1"/>
                </a:solidFill>
              </a:defRPr>
            </a:pPr>
            <a:r>
              <a:t>SHARANABASAVA H | PES1UG24AM399</a:t>
            </a:r>
          </a:p>
          <a:p>
            <a:pPr>
              <a:spcAft>
                <a:spcPts val="2200"/>
              </a:spcAft>
              <a:defRPr sz="2400">
                <a:solidFill>
                  <a:srgbClr val="CBD5E1"/>
                </a:solidFill>
              </a:defRPr>
            </a:pPr>
            <a:r>
              <a:t>UE24CS352A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UE24CS352A  |  Harish &amp; Sharanabasava  |  01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8FAFC"/>
                </a:solidFill>
              </a:defRPr>
            </a:pPr>
            <a:r>
              <a:t>Problem and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60020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CBD5E1"/>
                </a:solidFill>
              </a:defRPr>
            </a:pPr>
            <a:r>
              <a:t>GPS noise can place a vehicle on the wrong road.</a:t>
            </a:r>
          </a:p>
          <a:p>
            <a:pPr>
              <a:spcAft>
                <a:spcPts val="2200"/>
              </a:spcAft>
              <a:defRPr sz="2400">
                <a:solidFill>
                  <a:srgbClr val="CBD5E1"/>
                </a:solidFill>
              </a:defRPr>
            </a:pPr>
            <a:r>
              <a:t>Estimate the hidden directed road arc for each reading.</a:t>
            </a:r>
          </a:p>
          <a:p>
            <a:pPr>
              <a:spcAft>
                <a:spcPts val="2200"/>
              </a:spcAft>
              <a:defRPr sz="2400">
                <a:solidFill>
                  <a:srgbClr val="CBD5E1"/>
                </a:solidFill>
              </a:defRPr>
            </a:pPr>
            <a:r>
              <a:t>Waiting N readings provides future evidence but delays output.</a:t>
            </a:r>
          </a:p>
          <a:p>
            <a:pPr>
              <a:spcAft>
                <a:spcPts val="2200"/>
              </a:spcAft>
              <a:defRPr sz="2400">
                <a:solidFill>
                  <a:srgbClr val="CBD5E1"/>
                </a:solidFill>
              </a:defRPr>
            </a:pPr>
            <a:r>
              <a:t>Avoid shortest-path searches; study the measured trade-off.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UE24CS352A  |  Harish &amp; Sharanabasava  |  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8FAFC"/>
                </a:solidFill>
              </a:defRPr>
            </a:pPr>
            <a:r>
              <a:t>Seattle benchmark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60020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000">
                <a:solidFill>
                  <a:srgbClr val="CBD5E1"/>
                </a:solidFill>
              </a:defRPr>
            </a:pPr>
            <a:r>
              <a:t>7,531 readings; 158,167 road edges; 576 reference-route edges.</a:t>
            </a:r>
          </a:p>
          <a:p>
            <a:pPr>
              <a:spcAft>
                <a:spcPts val="2200"/>
              </a:spcAft>
              <a:defRPr sz="2000">
                <a:solidFill>
                  <a:srgbClr val="CBD5E1"/>
                </a:solidFill>
              </a:defRPr>
            </a:pPr>
            <a:r>
              <a:t>Nominal 1 Hz with four gaps; coordinates projected to metres.</a:t>
            </a:r>
          </a:p>
          <a:p>
            <a:pPr>
              <a:spcAft>
                <a:spcPts val="2200"/>
              </a:spcAft>
              <a:defRPr sz="2000">
                <a:solidFill>
                  <a:srgbClr val="CBD5E1"/>
                </a:solidFill>
              </a:defRPr>
            </a:pPr>
            <a:r>
              <a:t>60% train / 10% validation / 30% held-out test.</a:t>
            </a:r>
          </a:p>
          <a:p>
            <a:pPr>
              <a:spcAft>
                <a:spcPts val="2200"/>
              </a:spcAft>
              <a:defRPr sz="2000">
                <a:solidFill>
                  <a:srgbClr val="CBD5E1"/>
                </a:solidFill>
              </a:defRPr>
            </a:pPr>
            <a:r>
              <a:t>Point labels derived from route alignment: evaluation proxies.</a:t>
            </a:r>
          </a:p>
        </p:txBody>
      </p:sp>
      <p:pic>
        <p:nvPicPr>
          <p:cNvPr id="4" name="Picture 3" descr="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645920"/>
            <a:ext cx="6035040" cy="173703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UE24CS352A  |  Harish &amp; Sharanabasava  |  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8FAFC"/>
                </a:solidFill>
              </a:defRPr>
            </a:pPr>
            <a:r>
              <a:t>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60020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CBD5E1"/>
                </a:solidFill>
              </a:defRPr>
            </a:pPr>
            <a:r>
              <a:t>GPS + roads -&gt; nearby directed arc candidates</a:t>
            </a:r>
          </a:p>
          <a:p>
            <a:pPr>
              <a:spcAft>
                <a:spcPts val="2200"/>
              </a:spcAft>
              <a:defRPr sz="2400">
                <a:solidFill>
                  <a:srgbClr val="CBD5E1"/>
                </a:solidFill>
              </a:defRPr>
            </a:pPr>
            <a:r>
              <a:t>Distance, heading, speed features -&gt; emissions</a:t>
            </a:r>
          </a:p>
          <a:p>
            <a:pPr>
              <a:spcAft>
                <a:spcPts val="2200"/>
              </a:spcAft>
              <a:defRPr sz="2400">
                <a:solidFill>
                  <a:srgbClr val="CBD5E1"/>
                </a:solidFill>
              </a:defRPr>
            </a:pPr>
            <a:r>
              <a:t>History and displacement features -&gt; transitions</a:t>
            </a:r>
          </a:p>
          <a:p>
            <a:pPr>
              <a:spcAft>
                <a:spcPts val="2200"/>
              </a:spcAft>
              <a:defRPr sz="2400">
                <a:solidFill>
                  <a:srgbClr val="CBD5E1"/>
                </a:solidFill>
              </a:defRPr>
            </a:pPr>
            <a:r>
              <a:t>Log-domain sliding-window Viterbi -&gt; irrevocable predictions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UE24CS352A  |  Harish &amp; Sharanabasava  |  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8FAFC"/>
                </a:solidFill>
              </a:defRPr>
            </a:pPr>
            <a:r>
              <a:t>HMM and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60020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CBD5E1"/>
                </a:solidFill>
              </a:defRPr>
            </a:pPr>
            <a:r>
              <a:t>States: all directed arcs within 50 m; sigma = 10 m.</a:t>
            </a:r>
          </a:p>
          <a:p>
            <a:pPr>
              <a:spcAft>
                <a:spcPts val="2200"/>
              </a:spcAft>
              <a:defRPr sz="2400">
                <a:solidFill>
                  <a:srgbClr val="CBD5E1"/>
                </a:solidFill>
              </a:defRPr>
            </a:pPr>
            <a:r>
              <a:t>Emission: Gaussian distance, heading dot product, speed constraint.</a:t>
            </a:r>
          </a:p>
          <a:p>
            <a:pPr>
              <a:spcAft>
                <a:spcPts val="2200"/>
              </a:spcAft>
              <a:defRPr sz="2400">
                <a:solidFill>
                  <a:srgbClr val="CBD5E1"/>
                </a:solidFill>
              </a:defRPr>
            </a:pPr>
            <a:r>
              <a:t>Transition: backtrack prevention and midpoint discrepancy.</a:t>
            </a:r>
          </a:p>
          <a:p>
            <a:pPr>
              <a:spcAft>
                <a:spcPts val="2200"/>
              </a:spcAft>
              <a:defRPr sz="2400">
                <a:solidFill>
                  <a:srgbClr val="CBD5E1"/>
                </a:solidFill>
              </a:defRPr>
            </a:pPr>
            <a:r>
              <a:t>Positive weighted potentials; no connectivity guarantee.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UE24CS352A  |  Harish &amp; Sharanabasava  |  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8FAFC"/>
                </a:solidFill>
              </a:defRPr>
            </a:pPr>
            <a:r>
              <a:t>Window T and buffer 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60020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CBD5E1"/>
                </a:solidFill>
              </a:defRPr>
            </a:pPr>
            <a:r>
              <a:t>At reading t, solve over max(0, t-T+1) through t.</a:t>
            </a:r>
          </a:p>
          <a:p>
            <a:pPr>
              <a:spcAft>
                <a:spcPts val="2200"/>
              </a:spcAft>
              <a:defRPr sz="2400">
                <a:solidFill>
                  <a:srgbClr val="CBD5E1"/>
                </a:solidFill>
              </a:defRPr>
            </a:pPr>
            <a:r>
              <a:t>Clamp overlapping committed states at their actual times.</a:t>
            </a:r>
          </a:p>
          <a:p>
            <a:pPr>
              <a:spcAft>
                <a:spcPts val="2200"/>
              </a:spcAft>
              <a:defRPr sz="2400">
                <a:solidFill>
                  <a:srgbClr val="CBD5E1"/>
                </a:solidFill>
              </a:defRPr>
            </a:pPr>
            <a:r>
              <a:t>Commit prediction for t-N; never revise it later.</a:t>
            </a:r>
          </a:p>
          <a:p>
            <a:pPr>
              <a:spcAft>
                <a:spcPts val="2200"/>
              </a:spcAft>
              <a:defRPr sz="2400">
                <a:solidFill>
                  <a:srgbClr val="CBD5E1"/>
                </a:solidFill>
              </a:defRPr>
            </a:pPr>
            <a:r>
              <a:t>Flush final N points at EOF; report online-only error separately.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UE24CS352A  |  Harish &amp; Sharanabasava  |  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8FAFC"/>
                </a:solidFill>
              </a:defRPr>
            </a:pPr>
            <a:r>
              <a:t>Learning feature weights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60020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CBD5E1"/>
                </a:solidFill>
              </a:defRPr>
            </a:pPr>
            <a:r>
              <a:t>Balanced L1 LinearSVC; candidates/pairs labelled from reference.</a:t>
            </a:r>
          </a:p>
          <a:p>
            <a:pPr>
              <a:spcAft>
                <a:spcPts val="2200"/>
              </a:spcAft>
              <a:defRPr sz="2400">
                <a:solidFill>
                  <a:srgbClr val="CBD5E1"/>
                </a:solidFill>
              </a:defRPr>
            </a:pPr>
            <a:r>
              <a:t>10 expanding folds, 15-reading gap; C in {0.1, 1, 10}.</a:t>
            </a:r>
          </a:p>
          <a:p>
            <a:pPr>
              <a:spcAft>
                <a:spcPts val="2200"/>
              </a:spcAft>
              <a:defRPr sz="2400">
                <a:solidFill>
                  <a:srgbClr val="CBD5E1"/>
                </a:solidFill>
              </a:defRPr>
            </a:pPr>
            <a:r>
              <a:t>Selected C: emission 10, transition 10.</a:t>
            </a:r>
          </a:p>
          <a:p>
            <a:pPr>
              <a:spcAft>
                <a:spcPts val="2200"/>
              </a:spcAft>
              <a:defRPr sz="2400">
                <a:solidFill>
                  <a:srgbClr val="CBD5E1"/>
                </a:solidFill>
              </a:defRPr>
            </a:pPr>
            <a:r>
              <a:t>Positive coefficients normalized; intercept discarded.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UE24CS352A  |  Harish &amp; Sharanabasava  |  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8FAFC"/>
                </a:solidFill>
              </a:defRPr>
            </a:pPr>
            <a:r>
              <a:t>Delay versus accuracy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60020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000">
                <a:solidFill>
                  <a:srgbClr val="CBD5E1"/>
                </a:solidFill>
              </a:defRPr>
            </a:pPr>
            <a:r>
              <a:t>Validation selected T=10, N=7.</a:t>
            </a:r>
          </a:p>
          <a:p>
            <a:pPr>
              <a:spcAft>
                <a:spcPts val="2200"/>
              </a:spcAft>
              <a:defRPr sz="2000">
                <a:solidFill>
                  <a:srgbClr val="CBD5E1"/>
                </a:solidFill>
              </a:defRPr>
            </a:pPr>
            <a:r>
              <a:t>Test directed error: 9.60%.</a:t>
            </a:r>
          </a:p>
          <a:p>
            <a:pPr>
              <a:spcAft>
                <a:spcPts val="2200"/>
              </a:spcAft>
              <a:defRPr sz="2000">
                <a:solidFill>
                  <a:srgbClr val="CBD5E1"/>
                </a:solidFill>
              </a:defRPr>
            </a:pPr>
            <a:r>
              <a:t>Test edge error: 4.60%.</a:t>
            </a:r>
          </a:p>
          <a:p>
            <a:pPr>
              <a:spcAft>
                <a:spcPts val="2200"/>
              </a:spcAft>
              <a:defRPr sz="2000">
                <a:solidFill>
                  <a:srgbClr val="CBD5E1"/>
                </a:solidFill>
              </a:defRPr>
            </a:pPr>
            <a:r>
              <a:t>Minimum is not always at T/2; curves are not uniformly convex.</a:t>
            </a:r>
          </a:p>
        </p:txBody>
      </p:sp>
      <p:pic>
        <p:nvPicPr>
          <p:cNvPr id="4" name="Picture 3" descr="error_vs_buff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645920"/>
            <a:ext cx="6035040" cy="29313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UE24CS352A  |  Harish &amp; Sharanabasava  |  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8FAFC"/>
                </a:solidFill>
              </a:defRPr>
            </a:pPr>
            <a:r>
              <a:t>Baseline and ablations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60020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000">
                <a:solidFill>
                  <a:srgbClr val="CBD5E1"/>
                </a:solidFill>
              </a:defRPr>
            </a:pPr>
            <a:r>
              <a:t>Nearest-road edge error: 8.01%.</a:t>
            </a:r>
          </a:p>
          <a:p>
            <a:pPr>
              <a:spcAft>
                <a:spcPts val="2200"/>
              </a:spcAft>
              <a:defRPr sz="2000">
                <a:solidFill>
                  <a:srgbClr val="CBD5E1"/>
                </a:solidFill>
              </a:defRPr>
            </a:pPr>
            <a:r>
              <a:t>Full model edge error: 4.60%.</a:t>
            </a:r>
          </a:p>
          <a:p>
            <a:pPr>
              <a:spcAft>
                <a:spcPts val="2200"/>
              </a:spcAft>
              <a:defRPr sz="2000">
                <a:solidFill>
                  <a:srgbClr val="CBD5E1"/>
                </a:solidFill>
              </a:defRPr>
            </a:pPr>
            <a:r>
              <a:t>Removing heading or distance sharply worsens error.</a:t>
            </a:r>
          </a:p>
          <a:p>
            <a:pPr>
              <a:spcAft>
                <a:spcPts val="2200"/>
              </a:spcAft>
              <a:defRPr sz="2000">
                <a:solidFill>
                  <a:srgbClr val="CBD5E1"/>
                </a:solidFill>
              </a:defRPr>
            </a:pPr>
            <a:r>
              <a:t>Removing discrepancy improves directed error to 8.94%.</a:t>
            </a:r>
          </a:p>
        </p:txBody>
      </p:sp>
      <p:pic>
        <p:nvPicPr>
          <p:cNvPr id="4" name="Picture 3" descr="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645920"/>
            <a:ext cx="6035040" cy="25864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UE24CS352A  |  Harish &amp; Sharanabasava  |  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8FAFC"/>
                </a:solidFill>
              </a:defRPr>
            </a:pPr>
            <a:r>
              <a:t>Live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60020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000">
                <a:solidFill>
                  <a:srgbClr val="CBD5E1"/>
                </a:solidFill>
              </a:defRPr>
            </a:pPr>
            <a:r>
              <a:t>python run_demo.py --T 10 --N 7 --slice 5300 5600</a:t>
            </a:r>
          </a:p>
          <a:p>
            <a:pPr>
              <a:spcAft>
                <a:spcPts val="2200"/>
              </a:spcAft>
              <a:defRPr sz="2000">
                <a:solidFill>
                  <a:srgbClr val="CBD5E1"/>
                </a:solidFill>
              </a:defRPr>
            </a:pPr>
            <a:r>
              <a:t>Open results/demo_map.html: completely offline replay.</a:t>
            </a:r>
          </a:p>
          <a:p>
            <a:pPr>
              <a:spcAft>
                <a:spcPts val="2200"/>
              </a:spcAft>
              <a:defRPr sz="2000">
                <a:solidFill>
                  <a:srgbClr val="CBD5E1"/>
                </a:solidFill>
              </a:defRPr>
            </a:pPr>
            <a:r>
              <a:t>Compare N=0 and N=7 using the same slice.</a:t>
            </a:r>
          </a:p>
          <a:p>
            <a:pPr>
              <a:spcAft>
                <a:spcPts val="2200"/>
              </a:spcAft>
              <a:defRPr sz="2000">
                <a:solidFill>
                  <a:srgbClr val="CBD5E1"/>
                </a:solidFill>
              </a:defRPr>
            </a:pPr>
            <a:r>
              <a:t>Static PNG is the backup; runtime excludes map rendering.</a:t>
            </a:r>
          </a:p>
        </p:txBody>
      </p:sp>
      <p:pic>
        <p:nvPicPr>
          <p:cNvPr id="4" name="Picture 3" descr="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645920"/>
            <a:ext cx="6035040" cy="173703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UE24CS352A  |  Harish &amp; Sharanabasava  |  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8FAFC"/>
                </a:solidFill>
              </a:defRPr>
            </a:pPr>
            <a:r>
              <a:t>Conclusions and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60020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CBD5E1"/>
                </a:solidFill>
              </a:defRPr>
            </a:pPr>
            <a:r>
              <a:t>Buffering and heading help on this single benchmark.</a:t>
            </a:r>
          </a:p>
          <a:p>
            <a:pPr>
              <a:spcAft>
                <a:spcPts val="2200"/>
              </a:spcAft>
              <a:defRPr sz="2400">
                <a:solidFill>
                  <a:srgbClr val="CBD5E1"/>
                </a:solidFill>
              </a:defRPr>
            </a:pPr>
            <a:r>
              <a:t>Derived labels and one trip limit generalization.</a:t>
            </a:r>
          </a:p>
          <a:p>
            <a:pPr>
              <a:spcAft>
                <a:spcPts val="2200"/>
              </a:spcAft>
              <a:defRPr sz="2400">
                <a:solidFill>
                  <a:srgbClr val="CBD5E1"/>
                </a:solidFill>
              </a:defRPr>
            </a:pPr>
            <a:r>
              <a:t>Training/inference history differ; no network connectivity check.</a:t>
            </a:r>
          </a:p>
          <a:p>
            <a:pPr>
              <a:spcAft>
                <a:spcPts val="2200"/>
              </a:spcAft>
              <a:defRPr sz="2400">
                <a:solidFill>
                  <a:srgbClr val="CBD5E1"/>
                </a:solidFill>
              </a:defRPr>
            </a:pPr>
            <a:r>
              <a:t>Next: independent labels, multiple trips, filtering, turn features.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UE24CS352A  |  Harish &amp; Sharanabasava  |  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8FAFC"/>
                </a:solidFill>
              </a:defRPr>
            </a:pPr>
            <a:r>
              <a:t>Code, contribution and 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60020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CBD5E1"/>
                </a:solidFill>
              </a:defRPr>
            </a:pPr>
            <a:r>
              <a:t>src/: loader, candidates, features, Viterbi, training, evaluation.</a:t>
            </a:r>
          </a:p>
          <a:p>
            <a:pPr>
              <a:spcAft>
                <a:spcPts val="2200"/>
              </a:spcAft>
              <a:defRPr sz="2400">
                <a:solidFill>
                  <a:srgbClr val="CBD5E1"/>
                </a:solidFill>
              </a:defRPr>
            </a:pPr>
            <a:r>
              <a:t>Tests verify causal commitments and future-evidence effects.</a:t>
            </a:r>
          </a:p>
          <a:p>
            <a:pPr>
              <a:spcAft>
                <a:spcPts val="2200"/>
              </a:spcAft>
              <a:defRPr sz="2400">
                <a:solidFill>
                  <a:srgbClr val="CBD5E1"/>
                </a:solidFill>
              </a:defRPr>
            </a:pPr>
            <a:r>
              <a:t>Both members should review the full pipeline and run the demo.</a:t>
            </a:r>
          </a:p>
          <a:p>
            <a:pPr>
              <a:spcAft>
                <a:spcPts val="2200"/>
              </a:spcAft>
              <a:defRPr sz="2400">
                <a:solidFill>
                  <a:srgbClr val="CBD5E1"/>
                </a:solidFill>
              </a:defRPr>
            </a:pPr>
            <a:r>
              <a:t>Record actual individual contributions; private GitHub publishing pending.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UE24CS352A  |  Harish &amp; Sharanabasava  |  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